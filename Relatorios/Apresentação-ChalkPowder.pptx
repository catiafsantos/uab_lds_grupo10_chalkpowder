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12" roundtripDataSignature="AMtx7mgkhfcg0XtB5yE/IgAYT9rYRARu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B6EF55-9FEB-5042-E998-2C59C5B3B099}" v="1654" dt="2025-05-20T22:06:15.5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wentieth Centur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" name="Google Shape;17;p9"/>
          <p:cNvSpPr/>
          <p:nvPr/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9"/>
          <p:cNvSpPr/>
          <p:nvPr/>
        </p:nvSpPr>
        <p:spPr>
          <a:xfrm flipH="1">
            <a:off x="555710" y="106482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5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5" name="Google Shape;25;p10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0"/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/>
            <a:ahLst/>
            <a:cxnLst/>
            <a:rect l="l" t="t" r="r" b="b"/>
            <a:pathLst>
              <a:path w="1771609" h="1140095" extrusionOk="0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wentieth Centur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" name="Google Shape;33;p11"/>
          <p:cNvSpPr/>
          <p:nvPr/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1"/>
          <p:cNvSpPr/>
          <p:nvPr/>
        </p:nvSpPr>
        <p:spPr>
          <a:xfrm flipH="1">
            <a:off x="555710" y="106482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42" name="Google Shape;42;p12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2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53" name="Google Shape;53;p13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3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60" name="Google Shape;60;p14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66" name="Google Shape;66;p15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75" name="Google Shape;75;p16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84" name="Google Shape;84;p17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92" name="Google Shape;92;p18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00" name="Google Shape;100;p19"/>
          <p:cNvSpPr/>
          <p:nvPr/>
        </p:nvSpPr>
        <p:spPr>
          <a:xfrm rot="-54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9"/>
          <p:cNvSpPr/>
          <p:nvPr/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wentieth Century"/>
              <a:buNone/>
              <a:defRPr sz="4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/>
          <p:nvPr/>
        </p:nvSpPr>
        <p:spPr>
          <a:xfrm>
            <a:off x="6604059" y="0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 extrusionOk="0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10567336" y="1"/>
            <a:ext cx="1155142" cy="591009"/>
          </a:xfrm>
          <a:custGeom>
            <a:avLst/>
            <a:gdLst/>
            <a:ahLst/>
            <a:cxnLst/>
            <a:rect l="l" t="t" r="r" b="b"/>
            <a:pathLst>
              <a:path w="1155142" h="591009" extrusionOk="0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12032259" y="2916245"/>
            <a:ext cx="159741" cy="552996"/>
          </a:xfrm>
          <a:custGeom>
            <a:avLst/>
            <a:gdLst/>
            <a:ahLst/>
            <a:cxnLst/>
            <a:rect l="l" t="t" r="r" b="b"/>
            <a:pathLst>
              <a:path w="159741" h="552996" extrusionOk="0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148440" y="5717906"/>
            <a:ext cx="1771609" cy="1140095"/>
          </a:xfrm>
          <a:custGeom>
            <a:avLst/>
            <a:gdLst/>
            <a:ahLst/>
            <a:cxnLst/>
            <a:rect l="l" t="t" r="r" b="b"/>
            <a:pathLst>
              <a:path w="1771609" h="1140095" extrusionOk="0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6647511" y="6258756"/>
            <a:ext cx="1565940" cy="599245"/>
          </a:xfrm>
          <a:custGeom>
            <a:avLst/>
            <a:gdLst/>
            <a:ahLst/>
            <a:cxnLst/>
            <a:rect l="l" t="t" r="r" b="b"/>
            <a:pathLst>
              <a:path w="1565940" h="599245" extrusionOk="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10643820" y="5835650"/>
            <a:ext cx="1548180" cy="1022351"/>
          </a:xfrm>
          <a:custGeom>
            <a:avLst/>
            <a:gdLst/>
            <a:ahLst/>
            <a:cxnLst/>
            <a:rect l="l" t="t" r="r" b="b"/>
            <a:pathLst>
              <a:path w="1548180" h="1022351" extrusionOk="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A blue and white card with text and blue letters&#10;&#10;AI-generated content may be incorrect.">
            <a:extLst>
              <a:ext uri="{FF2B5EF4-FFF2-40B4-BE49-F238E27FC236}">
                <a16:creationId xmlns:a16="http://schemas.microsoft.com/office/drawing/2014/main" id="{A977DB14-9466-517F-E30F-9E366CE0A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" y="0"/>
            <a:ext cx="12286202" cy="6868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wentieth Century"/>
              <a:buNone/>
            </a:pPr>
            <a:r>
              <a:rPr lang="pt-BR"/>
              <a:t>O que faz/permite fazer a aplicação</a:t>
            </a:r>
            <a:endParaRPr/>
          </a:p>
        </p:txBody>
      </p:sp>
      <p:sp>
        <p:nvSpPr>
          <p:cNvPr id="120" name="Google Shape;120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4206568" cy="385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SzPts val="2800"/>
            </a:pPr>
            <a:r>
              <a:rPr lang="pt-BR" dirty="0"/>
              <a:t>Gerar gráficos de barras e linhas a partir da importação de ficheiro .CSV fornecido pelo utilizador</a:t>
            </a:r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28600" indent="-228600">
              <a:spcBef>
                <a:spcPts val="0"/>
              </a:spcBef>
              <a:buSzPts val="2800"/>
            </a:pPr>
            <a:r>
              <a:rPr lang="pt-BR" dirty="0"/>
              <a:t>A interação foi programada com </a:t>
            </a:r>
            <a:r>
              <a:rPr lang="pt-BR" dirty="0" err="1"/>
              <a:t>Tkinter</a:t>
            </a:r>
            <a:r>
              <a:rPr lang="pt-BR" dirty="0"/>
              <a:t> </a:t>
            </a:r>
            <a:r>
              <a:rPr lang="pt-BR" i="1" dirty="0"/>
              <a:t>.</a:t>
            </a:r>
            <a:endParaRPr dirty="0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94C9C4-6B3F-56F7-D6CE-6B5DAC28D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917" y="1885950"/>
            <a:ext cx="4695825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wentieth Century"/>
              <a:buNone/>
            </a:pPr>
            <a:r>
              <a:rPr lang="pt-BR"/>
              <a:t>Responsabilidades por componente</a:t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 rot="-5400000" flipH="1">
            <a:off x="555710" y="2183223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1892641" y="1815957"/>
            <a:ext cx="2307404" cy="9161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AD564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Model</a:t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4919609" y="1815956"/>
            <a:ext cx="2307404" cy="916112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 cap="flat" cmpd="sng">
            <a:solidFill>
              <a:srgbClr val="AD564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View</a:t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8077733" y="1815955"/>
            <a:ext cx="2307404" cy="916112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AD564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Controller</a:t>
            </a:r>
            <a:endParaRPr/>
          </a:p>
        </p:txBody>
      </p:sp>
      <p:sp>
        <p:nvSpPr>
          <p:cNvPr id="133" name="Google Shape;133;p3"/>
          <p:cNvSpPr txBox="1">
            <a:spLocks noGrp="1"/>
          </p:cNvSpPr>
          <p:nvPr>
            <p:ph type="body" idx="1"/>
          </p:nvPr>
        </p:nvSpPr>
        <p:spPr>
          <a:xfrm>
            <a:off x="1612236" y="2848760"/>
            <a:ext cx="2860133" cy="3644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SzPts val="2000"/>
            </a:pPr>
            <a:r>
              <a:rPr lang="pt-BR" sz="2000" dirty="0">
                <a:latin typeface="Calibri"/>
              </a:rPr>
              <a:t>Importar ficheiro .CSV.</a:t>
            </a:r>
            <a:endParaRPr lang="en-US">
              <a:latin typeface="Calibri"/>
            </a:endParaRPr>
          </a:p>
          <a:p>
            <a:pPr marL="228600" indent="-228600">
              <a:buSzPts val="2000"/>
            </a:pPr>
            <a:r>
              <a:rPr lang="pt-BR" sz="2000" dirty="0">
                <a:latin typeface="Calibri"/>
              </a:rPr>
              <a:t>Gerar gráfico.</a:t>
            </a:r>
            <a:endParaRPr>
              <a:latin typeface="Calibri"/>
            </a:endParaRPr>
          </a:p>
          <a:p>
            <a:pPr marL="228600" indent="-228600">
              <a:buSzPts val="2000"/>
            </a:pPr>
            <a:r>
              <a:rPr lang="pt-BR" sz="2000" dirty="0">
                <a:latin typeface="Calibri"/>
              </a:rPr>
              <a:t>Gravar gráfico.</a:t>
            </a:r>
            <a:endParaRPr>
              <a:latin typeface="Calibri"/>
            </a:endParaRPr>
          </a:p>
          <a:p>
            <a:pPr marL="228600" indent="-228600">
              <a:buSzPts val="2000"/>
            </a:pPr>
            <a:r>
              <a:rPr lang="pt-BR" sz="2000" dirty="0">
                <a:latin typeface="Calibri"/>
              </a:rPr>
              <a:t>Gera erros específicos da importação de dados e gravação do gráfico gerado.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 dirty="0" err="1"/>
              <a:t>Artefactos</a:t>
            </a:r>
            <a:r>
              <a:rPr lang="pt-BR" sz="2000" dirty="0"/>
              <a:t>: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 sz="1600" dirty="0"/>
              <a:t>model.py</a:t>
            </a:r>
            <a:endParaRPr dirty="0"/>
          </a:p>
        </p:txBody>
      </p:sp>
      <p:sp>
        <p:nvSpPr>
          <p:cNvPr id="134" name="Google Shape;134;p3"/>
          <p:cNvSpPr txBox="1"/>
          <p:nvPr/>
        </p:nvSpPr>
        <p:spPr>
          <a:xfrm>
            <a:off x="4637926" y="2847048"/>
            <a:ext cx="2849090" cy="3644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lnSpc>
                <a:spcPct val="9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sz="2000" dirty="0">
                <a:solidFill>
                  <a:schemeClr val="dk1"/>
                </a:solidFill>
                <a:latin typeface="Calibri"/>
                <a:sym typeface="Avenir"/>
              </a:rPr>
              <a:t>Desenhar a interface de utilizador.</a:t>
            </a:r>
            <a:endParaRPr lang="en-US" sz="2000">
              <a:solidFill>
                <a:schemeClr val="dk1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sz="2000" dirty="0">
                <a:solidFill>
                  <a:schemeClr val="dk1"/>
                </a:solidFill>
                <a:latin typeface="Calibri"/>
                <a:sym typeface="Avenir"/>
              </a:rPr>
              <a:t>Processar a entrada e saída das interações com o utilizador.</a:t>
            </a:r>
            <a:endParaRPr sz="2000">
              <a:solidFill>
                <a:schemeClr val="dk1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sz="2000" dirty="0">
                <a:solidFill>
                  <a:schemeClr val="dk1"/>
                </a:solidFill>
                <a:latin typeface="Calibri"/>
                <a:sym typeface="Avenir"/>
              </a:rPr>
              <a:t>Exibe r</a:t>
            </a:r>
            <a:r>
              <a:rPr lang="pt-BR" sz="2000" dirty="0">
                <a:latin typeface="Calibri"/>
                <a:ea typeface="Calibri"/>
                <a:cs typeface="Calibri"/>
                <a:sym typeface="Avenir"/>
              </a:rPr>
              <a:t>esultados ou mensagens de</a:t>
            </a:r>
            <a:r>
              <a:rPr lang="pt-BR" sz="2000" dirty="0">
                <a:solidFill>
                  <a:schemeClr val="dk1"/>
                </a:solidFill>
                <a:latin typeface="Calibri"/>
                <a:sym typeface="Avenir"/>
              </a:rPr>
              <a:t> erros.</a:t>
            </a:r>
            <a:endParaRPr lang="pt-BR" sz="2000" dirty="0">
              <a:solidFill>
                <a:schemeClr val="dk1"/>
              </a:solidFill>
              <a:latin typeface="Calibri"/>
            </a:endParaRPr>
          </a:p>
          <a:p>
            <a:pPr marL="228600" marR="0" lvl="0" indent="-2286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Arial"/>
              <a:buChar char="•"/>
            </a:pPr>
            <a:r>
              <a:rPr lang="pt-BR" sz="1850" b="0" i="0" u="none" strike="noStrike" cap="none" dirty="0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Artefactos</a:t>
            </a:r>
            <a:r>
              <a:rPr lang="pt-BR" sz="1850" b="0" i="0" u="none" strike="noStrike" cap="non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</a:t>
            </a:r>
            <a:endParaRPr dirty="0">
              <a:solidFill>
                <a:schemeClr val="dk1"/>
              </a:solidFill>
            </a:endParaRPr>
          </a:p>
          <a:p>
            <a:pPr marL="685800" marR="0" lvl="1" indent="-228600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80"/>
              <a:buFont typeface="Arial"/>
              <a:buChar char="•"/>
            </a:pPr>
            <a:r>
              <a:rPr lang="pt-BR" sz="1450" dirty="0">
                <a:solidFill>
                  <a:schemeClr val="dk1"/>
                </a:solidFill>
                <a:latin typeface="Avenir"/>
                <a:ea typeface="Avenir"/>
                <a:cs typeface="Avenir"/>
              </a:rPr>
              <a:t>view.py</a:t>
            </a:r>
            <a:endParaRPr lang="pt-BR" sz="1450" b="0" i="0" u="none" strike="noStrike" cap="none" dirty="0">
              <a:solidFill>
                <a:schemeClr val="dk1"/>
              </a:solidFill>
              <a:latin typeface="Avenir"/>
              <a:ea typeface="Avenir"/>
              <a:cs typeface="Avenir"/>
            </a:endParaRPr>
          </a:p>
          <a:p>
            <a:pPr marL="685800" marR="0" lvl="1" indent="-228600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80"/>
              <a:buFont typeface="Arial"/>
              <a:buChar char="•"/>
            </a:pPr>
            <a:r>
              <a:rPr lang="pt-BR" sz="1450" dirty="0">
                <a:solidFill>
                  <a:schemeClr val="dk1"/>
                </a:solidFill>
                <a:latin typeface="Avenir"/>
                <a:ea typeface="Avenir"/>
                <a:cs typeface="Avenir"/>
              </a:rPr>
              <a:t>IUserView.py</a:t>
            </a:r>
            <a:endParaRPr lang="pt-BR" sz="1450" b="0" strike="noStrike" cap="none" dirty="0">
              <a:solidFill>
                <a:schemeClr val="dk1"/>
              </a:solidFill>
              <a:latin typeface="Avenir"/>
              <a:ea typeface="Avenir"/>
              <a:cs typeface="Avenir"/>
            </a:endParaRPr>
          </a:p>
          <a:p>
            <a:pPr marL="685800" marR="0" lvl="1" indent="-228600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80"/>
              <a:buFont typeface="Arial"/>
              <a:buChar char="•"/>
            </a:pPr>
            <a:r>
              <a:rPr lang="pt-BR" sz="1450" dirty="0">
                <a:solidFill>
                  <a:schemeClr val="dk1"/>
                </a:solidFill>
                <a:latin typeface="Avenir"/>
                <a:ea typeface="Avenir"/>
                <a:cs typeface="Avenir"/>
              </a:rPr>
              <a:t>guiview.py</a:t>
            </a:r>
            <a:endParaRPr lang="pt-BR" sz="1450" b="0" i="0" u="none" strike="noStrike" cap="none" dirty="0">
              <a:solidFill>
                <a:schemeClr val="dk1"/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7746231" y="2847047"/>
            <a:ext cx="3158306" cy="3655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28600"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sz="2000" dirty="0">
                <a:solidFill>
                  <a:schemeClr val="dk1"/>
                </a:solidFill>
                <a:latin typeface="Calibri"/>
                <a:sym typeface="Avenir"/>
              </a:rPr>
              <a:t>Conectar os eventos dos componentes </a:t>
            </a:r>
            <a:r>
              <a:rPr lang="pt-BR" sz="2000" err="1">
                <a:solidFill>
                  <a:schemeClr val="dk1"/>
                </a:solidFill>
                <a:latin typeface="Calibri"/>
                <a:sym typeface="Avenir"/>
              </a:rPr>
              <a:t>arquitetónicos</a:t>
            </a:r>
            <a:r>
              <a:rPr lang="pt-BR" sz="2000" dirty="0">
                <a:solidFill>
                  <a:schemeClr val="dk1"/>
                </a:solidFill>
                <a:latin typeface="Calibri"/>
                <a:sym typeface="Avenir"/>
              </a:rPr>
              <a:t> Model e </a:t>
            </a:r>
            <a:r>
              <a:rPr lang="pt-BR" sz="2000" err="1">
                <a:solidFill>
                  <a:schemeClr val="dk1"/>
                </a:solidFill>
                <a:latin typeface="Calibri"/>
                <a:sym typeface="Avenir"/>
              </a:rPr>
              <a:t>View</a:t>
            </a:r>
            <a:r>
              <a:rPr lang="pt-BR" sz="2000" dirty="0">
                <a:solidFill>
                  <a:schemeClr val="dk1"/>
                </a:solidFill>
                <a:latin typeface="Calibri"/>
                <a:sym typeface="Avenir"/>
              </a:rPr>
              <a:t>.</a:t>
            </a:r>
            <a:endParaRPr lang="pt-BR" sz="2000" dirty="0">
              <a:solidFill>
                <a:schemeClr val="dk1"/>
              </a:solidFill>
              <a:latin typeface="Calibri"/>
            </a:endParaRPr>
          </a:p>
          <a:p>
            <a:pPr marL="228600" lvl="0" indent="-228600"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sz="2000" dirty="0">
                <a:solidFill>
                  <a:schemeClr val="dk1"/>
                </a:solidFill>
                <a:latin typeface="Calibri"/>
                <a:sym typeface="Avenir"/>
              </a:rPr>
              <a:t>Processar os eventos das interações reportadas pela </a:t>
            </a:r>
            <a:r>
              <a:rPr lang="pt-BR" sz="2000" err="1">
                <a:solidFill>
                  <a:schemeClr val="dk1"/>
                </a:solidFill>
                <a:latin typeface="Calibri"/>
                <a:sym typeface="Avenir"/>
              </a:rPr>
              <a:t>View</a:t>
            </a:r>
            <a:r>
              <a:rPr lang="pt-BR" sz="2000" dirty="0">
                <a:solidFill>
                  <a:schemeClr val="dk1"/>
                </a:solidFill>
                <a:latin typeface="Calibri"/>
                <a:sym typeface="Avenir"/>
              </a:rPr>
              <a:t>.</a:t>
            </a:r>
            <a:endParaRPr lang="pt-BR" sz="2000" dirty="0">
              <a:solidFill>
                <a:schemeClr val="dk1"/>
              </a:solidFill>
              <a:latin typeface="Calibri"/>
            </a:endParaRPr>
          </a:p>
          <a:p>
            <a:pPr marL="228600" lvl="0" indent="-228600"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sz="2000" dirty="0">
                <a:solidFill>
                  <a:schemeClr val="dk1"/>
                </a:solidFill>
                <a:latin typeface="Calibri"/>
                <a:sym typeface="Avenir"/>
              </a:rPr>
              <a:t>Gerir as exceções.</a:t>
            </a:r>
            <a:endParaRPr lang="pt-BR" sz="2000">
              <a:solidFill>
                <a:schemeClr val="dk1"/>
              </a:solidFill>
              <a:latin typeface="Calibri"/>
            </a:endParaRPr>
          </a:p>
          <a:p>
            <a:pPr marL="228600" indent="-228600"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sz="2000" dirty="0">
                <a:solidFill>
                  <a:schemeClr val="dk1"/>
                </a:solidFill>
                <a:latin typeface="Calibri"/>
                <a:ea typeface="Avenir"/>
              </a:rPr>
              <a:t>Passar comandos da </a:t>
            </a:r>
            <a:r>
              <a:rPr lang="pt-BR" sz="2000" err="1">
                <a:solidFill>
                  <a:schemeClr val="dk1"/>
                </a:solidFill>
                <a:latin typeface="Calibri"/>
                <a:ea typeface="Avenir"/>
              </a:rPr>
              <a:t>View</a:t>
            </a:r>
            <a:r>
              <a:rPr lang="pt-BR" sz="2000" dirty="0">
                <a:solidFill>
                  <a:schemeClr val="dk1"/>
                </a:solidFill>
                <a:latin typeface="Calibri"/>
                <a:ea typeface="Avenir"/>
              </a:rPr>
              <a:t> para o Model.</a:t>
            </a:r>
            <a:endParaRPr lang="pt-BR" sz="2000">
              <a:solidFill>
                <a:schemeClr val="dk1"/>
              </a:solidFill>
              <a:latin typeface="Calibri"/>
              <a:ea typeface="Avenir"/>
            </a:endParaRPr>
          </a:p>
          <a:p>
            <a:pPr marL="228600" indent="-228600"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sz="2000" dirty="0">
                <a:solidFill>
                  <a:schemeClr val="dk1"/>
                </a:solidFill>
                <a:latin typeface="Calibri"/>
                <a:ea typeface="Avenir"/>
              </a:rPr>
              <a:t>Realizar o </a:t>
            </a:r>
            <a:r>
              <a:rPr lang="pt-BR" sz="2000" err="1">
                <a:solidFill>
                  <a:schemeClr val="dk1"/>
                </a:solidFill>
                <a:latin typeface="Calibri"/>
                <a:ea typeface="Avenir"/>
              </a:rPr>
              <a:t>logging</a:t>
            </a:r>
            <a:r>
              <a:rPr lang="pt-BR" sz="2000" dirty="0">
                <a:solidFill>
                  <a:schemeClr val="dk1"/>
                </a:solidFill>
                <a:latin typeface="Calibri"/>
                <a:ea typeface="Avenir"/>
              </a:rPr>
              <a:t> da execução do programa.</a:t>
            </a:r>
            <a:endParaRPr lang="pt-BR" sz="2000" dirty="0">
              <a:solidFill>
                <a:schemeClr val="dk1"/>
              </a:solidFill>
              <a:latin typeface="Calibri"/>
              <a:ea typeface="Avenir"/>
              <a:sym typeface="Avenir"/>
            </a:endParaRPr>
          </a:p>
          <a:p>
            <a:pPr marL="228600" marR="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Arial"/>
              <a:buChar char="•"/>
            </a:pPr>
            <a:r>
              <a:rPr lang="pt-BR" sz="1850" b="0" i="0" u="none" strike="noStrike" cap="none" err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Artefactos</a:t>
            </a:r>
            <a:r>
              <a:rPr lang="pt-BR" sz="1850" b="0" i="0" u="none" strike="noStrike" cap="non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</a:t>
            </a:r>
            <a:endParaRPr lang="pt-BR" dirty="0">
              <a:solidFill>
                <a:schemeClr val="dk1"/>
              </a:solidFill>
            </a:endParaRPr>
          </a:p>
          <a:p>
            <a:pPr marL="685800" lvl="1" indent="-228600">
              <a:lnSpc>
                <a:spcPct val="80000"/>
              </a:lnSpc>
              <a:spcBef>
                <a:spcPts val="500"/>
              </a:spcBef>
              <a:buClr>
                <a:schemeClr val="dk1"/>
              </a:buClr>
              <a:buSzPts val="1480"/>
              <a:buFont typeface="Arial"/>
              <a:buChar char="•"/>
            </a:pPr>
            <a:r>
              <a:rPr lang="pt-BR" sz="145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controller</a:t>
            </a:r>
            <a:r>
              <a:rPr lang="pt-BR" sz="1450" b="0" i="0" u="none" strike="noStrike" cap="non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.</a:t>
            </a:r>
            <a:r>
              <a:rPr lang="pt-BR" sz="145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py</a:t>
            </a:r>
            <a:endParaRPr lang="pt-BR" sz="1450" dirty="0">
              <a:solidFill>
                <a:schemeClr val="dk1"/>
              </a:solidFill>
              <a:ea typeface="Avenir"/>
            </a:endParaRPr>
          </a:p>
          <a:p>
            <a:pPr marL="685800" lvl="1" indent="-228600">
              <a:lnSpc>
                <a:spcPct val="80000"/>
              </a:lnSpc>
              <a:spcBef>
                <a:spcPts val="500"/>
              </a:spcBef>
              <a:buClr>
                <a:schemeClr val="dk1"/>
              </a:buClr>
              <a:buSzPts val="1480"/>
              <a:buFont typeface="Arial"/>
              <a:buChar char="•"/>
            </a:pPr>
            <a:r>
              <a:rPr lang="pt-BR" sz="1450" dirty="0">
                <a:solidFill>
                  <a:schemeClr val="dk1"/>
                </a:solidFill>
              </a:rPr>
              <a:t>controllerConsoleLogger.py</a:t>
            </a:r>
          </a:p>
          <a:p>
            <a:pPr marL="685800" lvl="1" indent="-228600">
              <a:lnSpc>
                <a:spcPct val="80000"/>
              </a:lnSpc>
              <a:spcBef>
                <a:spcPts val="500"/>
              </a:spcBef>
              <a:buClr>
                <a:schemeClr val="dk1"/>
              </a:buClr>
              <a:buSzPts val="1480"/>
              <a:buFont typeface="Arial"/>
              <a:buChar char="•"/>
            </a:pPr>
            <a:r>
              <a:rPr lang="pt-BR" sz="1450" dirty="0">
                <a:solidFill>
                  <a:schemeClr val="dk1"/>
                </a:solidFill>
              </a:rPr>
              <a:t>controllerEvent.py</a:t>
            </a:r>
          </a:p>
          <a:p>
            <a:pPr marL="685800" marR="0" lvl="1" indent="-22860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80"/>
              <a:buFont typeface="Arial"/>
              <a:buChar char="•"/>
            </a:pPr>
            <a:r>
              <a:rPr lang="pt-BR" sz="1450" dirty="0">
                <a:solidFill>
                  <a:schemeClr val="dk1"/>
                </a:solidFill>
              </a:rPr>
              <a:t>ILogger.py</a:t>
            </a:r>
          </a:p>
          <a:p>
            <a:pPr marL="685800" lvl="1" indent="-228600">
              <a:lnSpc>
                <a:spcPct val="80000"/>
              </a:lnSpc>
              <a:spcBef>
                <a:spcPts val="500"/>
              </a:spcBef>
              <a:buClr>
                <a:schemeClr val="dk1"/>
              </a:buClr>
              <a:buSzPts val="1480"/>
              <a:buFont typeface="Arial"/>
              <a:buChar char="•"/>
            </a:pPr>
            <a:endParaRPr lang="pt-BR" sz="145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</a:pPr>
            <a:r>
              <a:rPr lang="pt-BR" sz="3200"/>
              <a:t>Aspetos interessantes/desafiantes de eventos e delegados para comunicar entre componentes face à API escolhida</a:t>
            </a:r>
            <a:endParaRPr sz="3200"/>
          </a:p>
        </p:txBody>
      </p:sp>
      <p:sp>
        <p:nvSpPr>
          <p:cNvPr id="141" name="Google Shape;14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5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indent="-228600">
              <a:spcBef>
                <a:spcPts val="0"/>
              </a:spcBef>
              <a:buSzPts val="2800"/>
            </a:pPr>
            <a:r>
              <a:rPr lang="pt-BR" dirty="0"/>
              <a:t>Foi interessante desenvolver e trabalhar com uma implementação à medida de eventos e delegados em </a:t>
            </a:r>
            <a:r>
              <a:rPr lang="pt-BR" i="1" dirty="0"/>
              <a:t>Python</a:t>
            </a:r>
            <a:r>
              <a:rPr lang="pt-BR" dirty="0"/>
              <a:t>, constatámos que os dois conceitos do </a:t>
            </a:r>
            <a:r>
              <a:rPr lang="pt-BR" i="1" dirty="0"/>
              <a:t>C#</a:t>
            </a:r>
            <a:r>
              <a:rPr lang="pt-BR" dirty="0"/>
              <a:t> podem ser adaptados e obter a mesma funcionalidade com uma mesma classe.</a:t>
            </a:r>
            <a:endParaRPr dirty="0"/>
          </a:p>
          <a:p>
            <a:pPr marL="228600" indent="-228600">
              <a:buSzPts val="2800"/>
            </a:pPr>
            <a:r>
              <a:rPr lang="pt-BR" dirty="0"/>
              <a:t>Como a API </a:t>
            </a:r>
            <a:r>
              <a:rPr lang="pt-BR" i="1" dirty="0" err="1"/>
              <a:t>Seaborn</a:t>
            </a:r>
            <a:r>
              <a:rPr lang="pt-BR" i="1" dirty="0"/>
              <a:t> </a:t>
            </a:r>
            <a:r>
              <a:rPr lang="pt-BR" dirty="0"/>
              <a:t>gera gráficos, o interesse da utilização de eventos/delegados na nossa aplicação esteve na interação com as classes do </a:t>
            </a:r>
            <a:r>
              <a:rPr lang="pt-BR" i="1" dirty="0" err="1"/>
              <a:t>Tkinter</a:t>
            </a:r>
            <a:r>
              <a:rPr lang="pt-BR" i="1" dirty="0"/>
              <a:t> </a:t>
            </a:r>
            <a:r>
              <a:rPr lang="pt-BR" dirty="0"/>
              <a:t>atribuídas ao componente </a:t>
            </a:r>
            <a:r>
              <a:rPr lang="pt-BR" i="1" dirty="0" err="1"/>
              <a:t>View</a:t>
            </a:r>
            <a:r>
              <a:rPr lang="pt-BR" i="1" dirty="0"/>
              <a:t> </a:t>
            </a:r>
            <a:r>
              <a:rPr lang="pt-BR" dirty="0"/>
              <a:t>e às comunicações entre componentes [evento-gráfico gerado].</a:t>
            </a:r>
          </a:p>
          <a:p>
            <a:pPr marL="228600" indent="-228600">
              <a:buSzPts val="2800"/>
            </a:pPr>
            <a:r>
              <a:rPr lang="pt-BR" dirty="0"/>
              <a:t>Foi desafiante a adaptação dos eventos/delegados para </a:t>
            </a:r>
            <a:r>
              <a:rPr lang="pt-BR" i="1" dirty="0"/>
              <a:t>Python </a:t>
            </a:r>
            <a:r>
              <a:rPr lang="pt-BR" dirty="0"/>
              <a:t>visto este não ter uma implementação nativa.</a:t>
            </a:r>
          </a:p>
          <a:p>
            <a:pPr marL="228600" indent="-228600">
              <a:buSzPts val="2800"/>
            </a:pPr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Twentieth Century"/>
              <a:buNone/>
            </a:pPr>
            <a:r>
              <a:rPr lang="pt-BR" sz="3700"/>
              <a:t>Aspetos interessantes/desafiantes do uso de exceções face às características da API que foi utilizada</a:t>
            </a:r>
            <a:endParaRPr sz="3700"/>
          </a:p>
        </p:txBody>
      </p:sp>
      <p:sp>
        <p:nvSpPr>
          <p:cNvPr id="148" name="Google Shape;148;p5"/>
          <p:cNvSpPr/>
          <p:nvPr/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5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indent="-228600">
              <a:spcBef>
                <a:spcPts val="0"/>
              </a:spcBef>
              <a:buSzPts val="2800"/>
            </a:pPr>
            <a:r>
              <a:rPr lang="pt-BR" dirty="0"/>
              <a:t>As exceções possíveis por parte da API foram evitadas com a verificação dos dados fornecidos pelo utilizador que entendemos ser mais adequado do que recorrer às exceções uma vez que os dados são estruturados e por isso fáceis de verificar.</a:t>
            </a:r>
            <a:endParaRPr lang="en-US" dirty="0"/>
          </a:p>
          <a:p>
            <a:pPr marL="228600" indent="-228600">
              <a:spcBef>
                <a:spcPts val="0"/>
              </a:spcBef>
              <a:buSzPts val="2800"/>
            </a:pPr>
            <a:endParaRPr lang="pt-BR" dirty="0"/>
          </a:p>
          <a:p>
            <a:pPr marL="228600" indent="-228600">
              <a:spcBef>
                <a:spcPts val="0"/>
              </a:spcBef>
              <a:buSzPts val="2800"/>
            </a:pPr>
            <a:r>
              <a:rPr lang="pt-BR" dirty="0"/>
              <a:t>Embora não se tenha usado as exceções diretamente com a API, estas foram úteis, por exemplo, para recuperar de erros na interação com o utilizador deixando a aplicação num estado consistente e previsível para utilizador.</a:t>
            </a:r>
          </a:p>
          <a:p>
            <a:pPr marL="228600" indent="-228600">
              <a:spcBef>
                <a:spcPts val="0"/>
              </a:spcBef>
              <a:buSzPts val="2800"/>
            </a:pPr>
            <a:endParaRPr lang="pt-BR" dirty="0"/>
          </a:p>
          <a:p>
            <a:pPr marL="228600" indent="-228600">
              <a:spcBef>
                <a:spcPts val="0"/>
              </a:spcBef>
              <a:buSzPts val="2800"/>
            </a:pPr>
            <a:r>
              <a:rPr lang="pt-BR" dirty="0"/>
              <a:t>A maior dificuldade foi identificar os possíveis erros, principalmente quais </a:t>
            </a:r>
            <a:r>
              <a:rPr lang="pt-BR"/>
              <a:t>seriam tratados como exceção, evitadas com verificações ou reportadas </a:t>
            </a:r>
            <a:r>
              <a:rPr lang="pt-BR" dirty="0"/>
              <a:t>como mensagem de erros.</a:t>
            </a:r>
          </a:p>
        </p:txBody>
      </p:sp>
      <p:sp>
        <p:nvSpPr>
          <p:cNvPr id="150" name="Google Shape;150;p5"/>
          <p:cNvSpPr/>
          <p:nvPr/>
        </p:nvSpPr>
        <p:spPr>
          <a:xfrm rot="-5400000" flipH="1">
            <a:off x="555710" y="2183223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 txBox="1">
            <a:spLocks noGrp="1"/>
          </p:cNvSpPr>
          <p:nvPr>
            <p:ph type="title"/>
          </p:nvPr>
        </p:nvSpPr>
        <p:spPr>
          <a:xfrm>
            <a:off x="270275" y="365125"/>
            <a:ext cx="11570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</a:pPr>
            <a:r>
              <a:rPr lang="pt-BR" sz="3600"/>
              <a:t>Quais os aspetos mais interessantes/desafiantes de interfaces para independência entre componentes na API escolhida</a:t>
            </a:r>
            <a:endParaRPr sz="3600"/>
          </a:p>
        </p:txBody>
      </p:sp>
      <p:sp>
        <p:nvSpPr>
          <p:cNvPr id="156" name="Google Shape;156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5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SzPts val="2800"/>
            </a:pPr>
            <a:r>
              <a:rPr lang="pt-BR" dirty="0"/>
              <a:t>A interface </a:t>
            </a:r>
            <a:r>
              <a:rPr lang="pt-BR" i="1" dirty="0" err="1"/>
              <a:t>IUserView</a:t>
            </a:r>
            <a:r>
              <a:rPr lang="pt-BR" dirty="0"/>
              <a:t> permitiu dar mais independência ao processo de geração de gráficos tornando possível a substituição da </a:t>
            </a:r>
            <a:r>
              <a:rPr lang="pt-BR" i="1" dirty="0" err="1"/>
              <a:t>View</a:t>
            </a:r>
            <a:r>
              <a:rPr lang="pt-BR" i="1" dirty="0"/>
              <a:t> </a:t>
            </a:r>
            <a:r>
              <a:rPr lang="pt-BR" dirty="0"/>
              <a:t>por uma alternativa, por exemplo, </a:t>
            </a:r>
            <a:r>
              <a:rPr lang="pt-BR" i="1" dirty="0" err="1"/>
              <a:t>WebView</a:t>
            </a:r>
            <a:r>
              <a:rPr lang="pt-BR" dirty="0"/>
              <a:t> ao invés de </a:t>
            </a:r>
            <a:r>
              <a:rPr lang="pt-BR" i="1" dirty="0" err="1"/>
              <a:t>DesktopGui</a:t>
            </a:r>
            <a:r>
              <a:rPr lang="pt-BR" dirty="0"/>
              <a:t>.  </a:t>
            </a:r>
            <a:endParaRPr lang="en-US" dirty="0"/>
          </a:p>
          <a:p>
            <a:pPr marL="228600" indent="-228600">
              <a:spcBef>
                <a:spcPts val="0"/>
              </a:spcBef>
              <a:buSzPts val="2800"/>
            </a:pPr>
            <a:endParaRPr lang="pt-BR" dirty="0"/>
          </a:p>
          <a:p>
            <a:pPr marL="228600" indent="-228600">
              <a:spcBef>
                <a:spcPts val="0"/>
              </a:spcBef>
              <a:buSzPts val="2800"/>
            </a:pPr>
            <a:r>
              <a:rPr lang="pt-BR" dirty="0"/>
              <a:t>A criação da interface </a:t>
            </a:r>
            <a:r>
              <a:rPr lang="pt-BR" i="1" err="1"/>
              <a:t>ILogger</a:t>
            </a:r>
            <a:r>
              <a:rPr lang="pt-BR" dirty="0"/>
              <a:t> permitiu a abstração do serviço de </a:t>
            </a:r>
            <a:r>
              <a:rPr lang="pt-BR" err="1"/>
              <a:t>logging</a:t>
            </a:r>
            <a:r>
              <a:rPr lang="pt-BR" dirty="0"/>
              <a:t> e de igual modo poderia ser substituído por outro com características distintas, por exemplo, o </a:t>
            </a:r>
            <a:r>
              <a:rPr lang="pt-BR" err="1"/>
              <a:t>logging</a:t>
            </a:r>
            <a:r>
              <a:rPr lang="pt-BR" dirty="0"/>
              <a:t> ao invés de ser para a consola ser para a </a:t>
            </a:r>
            <a:r>
              <a:rPr lang="pt-BR"/>
              <a:t>janela gráfica.</a:t>
            </a:r>
          </a:p>
          <a:p>
            <a:pPr marL="228600" indent="-228600">
              <a:spcBef>
                <a:spcPts val="0"/>
              </a:spcBef>
              <a:buSzPts val="2800"/>
            </a:pPr>
            <a:endParaRPr lang="pt-BR" dirty="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wentieth Century"/>
              <a:buNone/>
            </a:pPr>
            <a:r>
              <a:rPr lang="pt-BR"/>
              <a:t>O que se conclui, após este processo? </a:t>
            </a:r>
            <a:br>
              <a:rPr lang="pt-BR"/>
            </a:br>
            <a:r>
              <a:rPr lang="pt-BR"/>
              <a:t>O que poderia ter ficado melhor?</a:t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 extrusionOk="0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5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92100">
              <a:spcBef>
                <a:spcPts val="0"/>
              </a:spcBef>
              <a:buSzPts val="2800"/>
            </a:pPr>
            <a:r>
              <a:rPr lang="pt-BR" dirty="0"/>
              <a:t>Seria interessante guardar uma lista de fontes de dados e uma lista de gráficos gerados associados às mesmas.</a:t>
            </a:r>
          </a:p>
          <a:p>
            <a:pPr marL="228600" indent="-292100">
              <a:spcBef>
                <a:spcPts val="0"/>
              </a:spcBef>
              <a:buSzPts val="2800"/>
            </a:pPr>
            <a:endParaRPr lang="pt-BR" dirty="0"/>
          </a:p>
          <a:p>
            <a:pPr marL="228600" indent="-292100">
              <a:spcBef>
                <a:spcPts val="0"/>
              </a:spcBef>
              <a:buSzPts val="2800"/>
            </a:pPr>
            <a:r>
              <a:rPr lang="pt-BR" dirty="0"/>
              <a:t>Seria interessante fornecer ao Model através de uma estrutura de plugins a capacidade de gerar tipos de gráficos diferentes, porque neste momento </a:t>
            </a:r>
            <a:r>
              <a:rPr lang="pt-BR"/>
              <a:t>estão definidos apenas dois tipos, mas a oferta poderia ser maior.</a:t>
            </a:r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pt-BR" dirty="0"/>
          </a:p>
        </p:txBody>
      </p:sp>
      <p:sp>
        <p:nvSpPr>
          <p:cNvPr id="165" name="Google Shape;165;p7"/>
          <p:cNvSpPr/>
          <p:nvPr/>
        </p:nvSpPr>
        <p:spPr>
          <a:xfrm rot="-5400000" flipH="1">
            <a:off x="555710" y="2183223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rgbClr val="000000"/>
      </a:dk1>
      <a:lt1>
        <a:srgbClr val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</Words>
  <Application>Microsoft Office PowerPoint</Application>
  <PresentationFormat>Ecrã Panorâmico</PresentationFormat>
  <Paragraphs>49</Paragraphs>
  <Slides>7</Slides>
  <Notes>7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2" baseType="lpstr">
      <vt:lpstr>Arial</vt:lpstr>
      <vt:lpstr>Avenir</vt:lpstr>
      <vt:lpstr>Calibri</vt:lpstr>
      <vt:lpstr>Twentieth Century</vt:lpstr>
      <vt:lpstr>ShapesVTI</vt:lpstr>
      <vt:lpstr>Apresentação do PowerPoint</vt:lpstr>
      <vt:lpstr>O que faz/permite fazer a aplicação</vt:lpstr>
      <vt:lpstr>Responsabilidades por componente</vt:lpstr>
      <vt:lpstr>Aspetos interessantes/desafiantes de eventos e delegados para comunicar entre componentes face à API escolhida</vt:lpstr>
      <vt:lpstr>Aspetos interessantes/desafiantes do uso de exceções face às características da API que foi utilizada</vt:lpstr>
      <vt:lpstr>Quais os aspetos mais interessantes/desafiantes de interfaces para independência entre componentes na API escolhida</vt:lpstr>
      <vt:lpstr>O que se conclui, após este processo?  O que poderia ter ficado melhor?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yhara yhara</dc:creator>
  <cp:lastModifiedBy>Andreia Romão</cp:lastModifiedBy>
  <cp:revision>338</cp:revision>
  <dcterms:created xsi:type="dcterms:W3CDTF">2020-05-22T15:38:54Z</dcterms:created>
  <dcterms:modified xsi:type="dcterms:W3CDTF">2025-05-20T22:08:50Z</dcterms:modified>
</cp:coreProperties>
</file>